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Meeting SLO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API p99</c:v>
                  </c:pt>
                  <c:pt idx="1">
                    <c:v>PVC bind</c:v>
                  </c:pt>
                  <c:pt idx="2">
                    <c:v>VM boot</c:v>
                  </c:pt>
                  <c:pt idx="3">
                    <c:v>Migration</c:v>
                  </c:pt>
                  <c:pt idx="4">
                    <c:v>Rollback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99.2</c:v>
                </c:pt>
                <c:pt idx="1">
                  <c:v>98.7</c:v>
                </c:pt>
                <c:pt idx="2">
                  <c:v>99.5</c:v>
                </c:pt>
                <c:pt idx="3">
                  <c:v>99.1</c:v>
                </c:pt>
                <c:pt idx="4">
                  <c:v>99.4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Below SLO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API p99</c:v>
                  </c:pt>
                  <c:pt idx="1">
                    <c:v>PVC bind</c:v>
                  </c:pt>
                  <c:pt idx="2">
                    <c:v>VM boot</c:v>
                  </c:pt>
                  <c:pt idx="3">
                    <c:v>Migration</c:v>
                  </c:pt>
                  <c:pt idx="4">
                    <c:v>Rollback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0.8</c:v>
                </c:pt>
                <c:pt idx="1">
                  <c:v>1.3</c:v>
                </c:pt>
                <c:pt idx="2">
                  <c:v>0.5</c:v>
                </c:pt>
                <c:pt idx="3">
                  <c:v>0.9</c:v>
                </c:pt>
                <c:pt idx="4">
                  <c:v>0.6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95"/>
        </c:scaling>
        <c:delete val="0"/>
        <c:axPos val="l"/>
        <c:majorGridlines>
          <c:spPr>
            <a:ln w="6350" cap="flat">
              <a:solidFill>
                <a:srgbClr val="D6E0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B6B82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MTTD (min)</c:v>
                </c:pt>
              </c:strCache>
            </c:strRef>
          </c:tx>
          <c:spPr>
            <a:solidFill>
              <a:srgbClr val="1C7293"/>
            </a:solidFill>
            <a:ln w="3810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</c:v>
                </c:pt>
                <c:pt idx="1">
                  <c:v>18</c:v>
                </c:pt>
                <c:pt idx="2">
                  <c:v>14</c:v>
                </c:pt>
                <c:pt idx="3">
                  <c:v>11</c:v>
                </c:pt>
                <c:pt idx="4">
                  <c:v>8</c:v>
                </c:pt>
                <c:pt idx="5">
                  <c:v>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MTTR (min)</c:v>
                </c:pt>
              </c:strCache>
            </c:strRef>
          </c:tx>
          <c:spPr>
            <a:solidFill>
              <a:srgbClr val="F59E0B"/>
            </a:solidFill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95</c:v>
                </c:pt>
                <c:pt idx="1">
                  <c:v>78</c:v>
                </c:pt>
                <c:pt idx="2">
                  <c:v>62</c:v>
                </c:pt>
                <c:pt idx="3">
                  <c:v>48</c:v>
                </c:pt>
                <c:pt idx="4">
                  <c:v>38</c:v>
                </c:pt>
                <c:pt idx="5">
                  <c:v>30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E0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B6B82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572000" cy="45720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-457200"/>
            <a:ext cx="2194560" cy="2194560"/>
          </a:xfrm>
          <a:prstGeom prst="ellipse">
            <a:avLst/>
          </a:prstGeom>
          <a:solidFill>
            <a:srgbClr val="21295C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371600" y="4937760"/>
            <a:ext cx="3474720" cy="3474720"/>
          </a:xfrm>
          <a:prstGeom prst="ellipse">
            <a:avLst/>
          </a:prstGeom>
          <a:solidFill>
            <a:srgbClr val="065A82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RELIABILITY FRAMEWORK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Zero-Defect Production</a:t>
            </a:r>
            <a:endParaRPr lang="en-US" sz="4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vSphere → OpenShift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multi-team operational framework spanning Build, TestOps, SRE, MIOX, Migration and IaC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4297680"/>
            <a:ext cx="109728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Platform Engineering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754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Virtualization Program  |  Mumbai &amp; Pune Regions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6263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B8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INTERNAL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418320" y="6263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8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 &amp; Our Commitment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303520" cy="329184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3291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automation domains, one production outcome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incidents in multi-team platform programs rarely stem from one team's automation failing — they emerge from gaps, assumptions and silent handoffs between teams.</a:t>
            </a:r>
            <a:endParaRPr lang="en-US" sz="1200" dirty="0"/>
          </a:p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Owning production reliability means owning the seams between Build, TestOps, SRE, MIOX, Migration and IaC as rigorously as the technology itself.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27432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A"/>
            </a:solidFill>
            <a:prstDash val="solid"/>
          </a:ln>
          <a:effectLst>
            <a:outerShdw sx="100000" sy="100000" kx="0" ky="0" algn="bl" rotWithShape="0" blurRad="127000" dist="25400" dir="5400000">
              <a:srgbClr val="0B1437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554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64592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903720" y="1554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Prevent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309360" y="21031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every release through a unified Production Readiness contract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006840" y="1371600"/>
            <a:ext cx="27432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A"/>
            </a:solidFill>
            <a:prstDash val="solid"/>
          </a:ln>
          <a:effectLst>
            <a:outerShdw sx="100000" sy="100000" kx="0" ky="0" algn="bl" rotWithShape="0" blurRad="127000" dist="25400" dir="5400000">
              <a:srgbClr val="0B1437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9189720" y="1554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0" y="164592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784080" y="1554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9189720" y="21031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Single-pane observability across clusters, migrations and policies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126480" y="3063240"/>
            <a:ext cx="27432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A"/>
            </a:solidFill>
            <a:prstDash val="solid"/>
          </a:ln>
          <a:effectLst>
            <a:outerShdw sx="100000" sy="100000" kx="0" ky="0" algn="bl" rotWithShape="0" blurRad="127000" dist="25400" dir="5400000">
              <a:srgbClr val="0B1437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309360" y="32461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33756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903720" y="3246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Respond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309360" y="3794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rollback, circuit breakers and clear incident ownership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9006840" y="3063240"/>
            <a:ext cx="27432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A"/>
            </a:solidFill>
            <a:prstDash val="solid"/>
          </a:ln>
          <a:effectLst>
            <a:outerShdw sx="100000" sy="100000" kx="0" ky="0" algn="bl" rotWithShape="0" blurRad="127000" dist="25400" dir="5400000">
              <a:srgbClr val="0B1437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189720" y="32461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3337560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784080" y="3246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Improve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9189720" y="3794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drills, retrospectives and measurable SLO feedback loops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457200" y="4846320"/>
            <a:ext cx="11247120" cy="0"/>
          </a:xfrm>
          <a:prstGeom prst="line">
            <a:avLst/>
          </a:prstGeom>
          <a:noFill/>
          <a:ln w="9525">
            <a:solidFill>
              <a:srgbClr val="D6E0EA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57200" y="4892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vSphere → OpenShift  |  Production Reliability Framework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9418320" y="4892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LANDSCAPE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Automation Domains, One Production Outcome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118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A"/>
            </a:solidFill>
            <a:prstDash val="solid"/>
          </a:ln>
          <a:effectLst>
            <a:outerShdw sx="100000" sy="100000" kx="0" ky="0" algn="bl" rotWithShape="0" blurRad="127000" dist="25400" dir="5400000">
              <a:srgbClr val="0B1437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73152" cy="1508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58191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" y="168706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5544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371600" y="19659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ArgoCD-driven cluster provisioning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13232" y="23774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• ACM • Operators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206240" y="1325880"/>
            <a:ext cx="36118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A"/>
            </a:solidFill>
            <a:prstDash val="solid"/>
          </a:ln>
          <a:effectLst>
            <a:outerShdw sx="100000" sy="100000" kx="0" ky="0" algn="bl" rotWithShape="0" blurRad="127000" dist="25400" dir="5400000">
              <a:srgbClr val="0B1437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06240" y="1325880"/>
            <a:ext cx="73152" cy="1508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Shape 10"/>
          <p:cNvSpPr/>
          <p:nvPr/>
        </p:nvSpPr>
        <p:spPr>
          <a:xfrm>
            <a:off x="4462272" y="158191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7428" y="1687068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20640" y="15544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TestOps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5120640" y="19659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health &amp; readiness testing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462272" y="23774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• DR • Security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7955280" y="1325880"/>
            <a:ext cx="36118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A"/>
            </a:solidFill>
            <a:prstDash val="solid"/>
          </a:ln>
          <a:effectLst>
            <a:outerShdw sx="100000" sy="100000" kx="0" ky="0" algn="bl" rotWithShape="0" blurRad="127000" dist="25400" dir="5400000">
              <a:srgbClr val="0B1437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955280" y="1325880"/>
            <a:ext cx="73152" cy="15087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0" name="Shape 16"/>
          <p:cNvSpPr/>
          <p:nvPr/>
        </p:nvSpPr>
        <p:spPr>
          <a:xfrm>
            <a:off x="8211312" y="1581912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6468" y="1687068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869680" y="15544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SRE / OAT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8869680" y="19659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acceptance testing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211312" y="23774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• Monitoring • Rota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57200" y="2971800"/>
            <a:ext cx="36118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A"/>
            </a:solidFill>
            <a:prstDash val="solid"/>
          </a:ln>
          <a:effectLst>
            <a:outerShdw sx="100000" sy="100000" kx="0" ky="0" algn="bl" rotWithShape="0" blurRad="127000" dist="25400" dir="5400000">
              <a:srgbClr val="0B1437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57200" y="2971800"/>
            <a:ext cx="73152" cy="1508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7" name="Shape 22"/>
          <p:cNvSpPr/>
          <p:nvPr/>
        </p:nvSpPr>
        <p:spPr>
          <a:xfrm>
            <a:off x="713232" y="322783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" y="3332988"/>
            <a:ext cx="292608" cy="29260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371600" y="32004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MIOX</a:t>
            </a:r>
            <a:endParaRPr lang="en-US" sz="1800" dirty="0"/>
          </a:p>
        </p:txBody>
      </p:sp>
      <p:sp>
        <p:nvSpPr>
          <p:cNvPr id="30" name="Text 24"/>
          <p:cNvSpPr/>
          <p:nvPr/>
        </p:nvSpPr>
        <p:spPr>
          <a:xfrm>
            <a:off x="1371600" y="36118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portal &amp; orchestration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713232" y="4023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• APIs • Tracking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4206240" y="2971800"/>
            <a:ext cx="36118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A"/>
            </a:solidFill>
            <a:prstDash val="solid"/>
          </a:ln>
          <a:effectLst>
            <a:outerShdw sx="100000" sy="100000" kx="0" ky="0" algn="bl" rotWithShape="0" blurRad="127000" dist="25400" dir="5400000">
              <a:srgbClr val="0B1437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206240" y="2971800"/>
            <a:ext cx="73152" cy="1508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4" name="Shape 28"/>
          <p:cNvSpPr/>
          <p:nvPr/>
        </p:nvSpPr>
        <p:spPr>
          <a:xfrm>
            <a:off x="4462272" y="32278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7428" y="3332988"/>
            <a:ext cx="292608" cy="29260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120640" y="32004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Migration</a:t>
            </a:r>
            <a:endParaRPr lang="en-US" sz="1800" dirty="0"/>
          </a:p>
        </p:txBody>
      </p:sp>
      <p:sp>
        <p:nvSpPr>
          <p:cNvPr id="37" name="Text 30"/>
          <p:cNvSpPr/>
          <p:nvPr/>
        </p:nvSpPr>
        <p:spPr>
          <a:xfrm>
            <a:off x="5120640" y="36118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Playbook-driven VM migration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4462272" y="4023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• Cutover • Validate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7955280" y="2971800"/>
            <a:ext cx="36118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A"/>
            </a:solidFill>
            <a:prstDash val="solid"/>
          </a:ln>
          <a:effectLst>
            <a:outerShdw sx="100000" sy="100000" kx="0" ky="0" algn="bl" rotWithShape="0" blurRad="127000" dist="25400" dir="5400000">
              <a:srgbClr val="0B1437">
                <a:alpha val="10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7955280" y="2971800"/>
            <a:ext cx="73152" cy="15087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41" name="Shape 34"/>
          <p:cNvSpPr/>
          <p:nvPr/>
        </p:nvSpPr>
        <p:spPr>
          <a:xfrm>
            <a:off x="8211312" y="3227832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6468" y="3332988"/>
            <a:ext cx="292608" cy="292608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8869680" y="32004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IaC / SRE</a:t>
            </a:r>
            <a:endParaRPr lang="en-US" sz="1800" dirty="0"/>
          </a:p>
        </p:txBody>
      </p:sp>
      <p:sp>
        <p:nvSpPr>
          <p:cNvPr id="44" name="Text 36"/>
          <p:cNvSpPr/>
          <p:nvPr/>
        </p:nvSpPr>
        <p:spPr>
          <a:xfrm>
            <a:off x="8869680" y="36118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Day-2 automation &amp; lifecycle</a:t>
            </a:r>
            <a:endParaRPr lang="en-US" sz="1100" dirty="0"/>
          </a:p>
        </p:txBody>
      </p:sp>
      <p:sp>
        <p:nvSpPr>
          <p:cNvPr id="45" name="Text 37"/>
          <p:cNvSpPr/>
          <p:nvPr/>
        </p:nvSpPr>
        <p:spPr>
          <a:xfrm>
            <a:off x="8211312" y="4023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Patching • Scaling • Certs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457200" y="4434840"/>
            <a:ext cx="11247120" cy="3200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47" name="Text 39"/>
          <p:cNvSpPr/>
          <p:nvPr/>
        </p:nvSpPr>
        <p:spPr>
          <a:xfrm>
            <a:off x="457200" y="44348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Reliability lives in the seams between these teams — not inside any one of them.</a:t>
            </a:r>
            <a:endParaRPr lang="en-US" sz="1150" dirty="0"/>
          </a:p>
        </p:txBody>
      </p:sp>
      <p:sp>
        <p:nvSpPr>
          <p:cNvPr id="48" name="Shape 40"/>
          <p:cNvSpPr/>
          <p:nvPr/>
        </p:nvSpPr>
        <p:spPr>
          <a:xfrm>
            <a:off x="457200" y="4846320"/>
            <a:ext cx="11247120" cy="0"/>
          </a:xfrm>
          <a:prstGeom prst="line">
            <a:avLst/>
          </a:prstGeom>
          <a:noFill/>
          <a:ln w="9525">
            <a:solidFill>
              <a:srgbClr val="D6E0EA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457200" y="4892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vSphere → OpenShift  |  Production Reliability Framework</a:t>
            </a:r>
            <a:endParaRPr lang="en-US" sz="900" dirty="0"/>
          </a:p>
        </p:txBody>
      </p:sp>
      <p:sp>
        <p:nvSpPr>
          <p:cNvPr id="50" name="Text 42"/>
          <p:cNvSpPr/>
          <p:nvPr/>
        </p:nvSpPr>
        <p:spPr>
          <a:xfrm>
            <a:off x="9418320" y="4892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Layers of Production Defense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743200" cy="1508760"/>
          </a:xfrm>
          <a:prstGeom prst="rect">
            <a:avLst/>
          </a:prstGeom>
          <a:solidFill>
            <a:srgbClr val="F4F7FB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7480" y="15087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48132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Readiness Gate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58368" y="20574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pre-prod contract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37560" y="1280160"/>
            <a:ext cx="2743200" cy="1508760"/>
          </a:xfrm>
          <a:prstGeom prst="rect">
            <a:avLst/>
          </a:prstGeom>
          <a:solidFill>
            <a:srgbClr val="F4F7FB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20440" y="14630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9"/>
          <p:cNvSpPr/>
          <p:nvPr/>
        </p:nvSpPr>
        <p:spPr>
          <a:xfrm>
            <a:off x="35204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50876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14800" y="148132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Observability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538728" y="20574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pane across domains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17920" y="1280160"/>
            <a:ext cx="2743200" cy="1508760"/>
          </a:xfrm>
          <a:prstGeom prst="rect">
            <a:avLst/>
          </a:prstGeom>
          <a:solidFill>
            <a:srgbClr val="F4F7FB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00800" y="14630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50876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95160" y="148132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Progressive Delivery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419088" y="20574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Canaries, waves, sync controls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9098280" y="1280160"/>
            <a:ext cx="2743200" cy="1508760"/>
          </a:xfrm>
          <a:prstGeom prst="rect">
            <a:avLst/>
          </a:prstGeom>
          <a:solidFill>
            <a:srgbClr val="F4F7FB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281160" y="14630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19"/>
          <p:cNvSpPr/>
          <p:nvPr/>
        </p:nvSpPr>
        <p:spPr>
          <a:xfrm>
            <a:off x="928116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8560" y="1508760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875520" y="148132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Rollback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9299448" y="20574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breakers at every tier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457200" y="2926080"/>
            <a:ext cx="2743200" cy="1508760"/>
          </a:xfrm>
          <a:prstGeom prst="rect">
            <a:avLst/>
          </a:prstGeom>
          <a:solidFill>
            <a:srgbClr val="F4F7FB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40080" y="31089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0" name="Text 24"/>
          <p:cNvSpPr/>
          <p:nvPr/>
        </p:nvSpPr>
        <p:spPr>
          <a:xfrm>
            <a:off x="64008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7480" y="3154680"/>
            <a:ext cx="320040" cy="32004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234440" y="312724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RACI &amp; Incident Ownership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658368" y="3703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routing, no 2 AM debate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3337560" y="2926080"/>
            <a:ext cx="2743200" cy="1508760"/>
          </a:xfrm>
          <a:prstGeom prst="rect">
            <a:avLst/>
          </a:prstGeom>
          <a:solidFill>
            <a:srgbClr val="F4F7FB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3520440" y="31089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6" name="Text 29"/>
          <p:cNvSpPr/>
          <p:nvPr/>
        </p:nvSpPr>
        <p:spPr>
          <a:xfrm>
            <a:off x="352044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0" y="3154680"/>
            <a:ext cx="320040" cy="32004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4114800" y="312724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Chaos &amp; DR Drills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3538728" y="3703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 before production does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6217920" y="2926080"/>
            <a:ext cx="2743200" cy="1508760"/>
          </a:xfrm>
          <a:prstGeom prst="rect">
            <a:avLst/>
          </a:prstGeom>
          <a:solidFill>
            <a:srgbClr val="F4F7FB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6400800" y="31089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2" name="Text 34"/>
          <p:cNvSpPr/>
          <p:nvPr/>
        </p:nvSpPr>
        <p:spPr>
          <a:xfrm>
            <a:off x="640080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8200" y="3154680"/>
            <a:ext cx="320040" cy="320040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6995160" y="312724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Runbooks as Code</a:t>
            </a:r>
            <a:endParaRPr lang="en-US" sz="1300" dirty="0"/>
          </a:p>
        </p:txBody>
      </p:sp>
      <p:sp>
        <p:nvSpPr>
          <p:cNvPr id="45" name="Text 36"/>
          <p:cNvSpPr/>
          <p:nvPr/>
        </p:nvSpPr>
        <p:spPr>
          <a:xfrm>
            <a:off x="6419088" y="3703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alert linked, reviewed</a:t>
            </a:r>
            <a:endParaRPr lang="en-US" sz="1050" dirty="0"/>
          </a:p>
        </p:txBody>
      </p:sp>
      <p:sp>
        <p:nvSpPr>
          <p:cNvPr id="46" name="Shape 37"/>
          <p:cNvSpPr/>
          <p:nvPr/>
        </p:nvSpPr>
        <p:spPr>
          <a:xfrm>
            <a:off x="9098280" y="2926080"/>
            <a:ext cx="2743200" cy="1508760"/>
          </a:xfrm>
          <a:prstGeom prst="rect">
            <a:avLst/>
          </a:prstGeom>
          <a:solidFill>
            <a:srgbClr val="F4F7FB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9281160" y="31089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8" name="Text 39"/>
          <p:cNvSpPr/>
          <p:nvPr/>
        </p:nvSpPr>
        <p:spPr>
          <a:xfrm>
            <a:off x="928116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38560" y="3154680"/>
            <a:ext cx="320040" cy="320040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9875520" y="312724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Soak &amp; Exit Criteria</a:t>
            </a:r>
            <a:endParaRPr lang="en-US" sz="1300" dirty="0"/>
          </a:p>
        </p:txBody>
      </p:sp>
      <p:sp>
        <p:nvSpPr>
          <p:cNvPr id="51" name="Text 41"/>
          <p:cNvSpPr/>
          <p:nvPr/>
        </p:nvSpPr>
        <p:spPr>
          <a:xfrm>
            <a:off x="9299448" y="3703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means proven, not booted</a:t>
            </a:r>
            <a:endParaRPr lang="en-US" sz="1050" dirty="0"/>
          </a:p>
        </p:txBody>
      </p:sp>
      <p:sp>
        <p:nvSpPr>
          <p:cNvPr id="52" name="Text 42"/>
          <p:cNvSpPr/>
          <p:nvPr/>
        </p:nvSpPr>
        <p:spPr>
          <a:xfrm>
            <a:off x="457200" y="45262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compensates for failures in the others — no single point of reliance.</a:t>
            </a:r>
            <a:endParaRPr lang="en-US" sz="1100" dirty="0"/>
          </a:p>
        </p:txBody>
      </p:sp>
      <p:sp>
        <p:nvSpPr>
          <p:cNvPr id="53" name="Shape 43"/>
          <p:cNvSpPr/>
          <p:nvPr/>
        </p:nvSpPr>
        <p:spPr>
          <a:xfrm>
            <a:off x="457200" y="4846320"/>
            <a:ext cx="11247120" cy="0"/>
          </a:xfrm>
          <a:prstGeom prst="line">
            <a:avLst/>
          </a:prstGeom>
          <a:noFill/>
          <a:ln w="9525">
            <a:solidFill>
              <a:srgbClr val="D6E0EA"/>
            </a:solidFill>
            <a:prstDash val="solid"/>
          </a:ln>
        </p:spPr>
      </p:sp>
      <p:sp>
        <p:nvSpPr>
          <p:cNvPr id="54" name="Text 44"/>
          <p:cNvSpPr/>
          <p:nvPr/>
        </p:nvSpPr>
        <p:spPr>
          <a:xfrm>
            <a:off x="457200" y="4892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vSphere → OpenShift  |  Production Reliability Framework</a:t>
            </a:r>
            <a:endParaRPr lang="en-US" sz="900" dirty="0"/>
          </a:p>
        </p:txBody>
      </p:sp>
      <p:sp>
        <p:nvSpPr>
          <p:cNvPr id="55" name="Text 45"/>
          <p:cNvSpPr/>
          <p:nvPr/>
        </p:nvSpPr>
        <p:spPr>
          <a:xfrm>
            <a:off x="9418320" y="4892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01  |  PREVENT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Unified Production Readiness Gate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single green/red contract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cluster or migrated VM goes live without a consolidated pass from every upstream team — aggregated via API, visible to all, enforced in code.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ANCHOR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1546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existing TestOps Production Readiness portal into the consolidated gate. It already owns the UI, the API scaffolding and the AI-agent routing — adding Build, SRE and Migration feeds is the shortest path.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35040" y="1325880"/>
            <a:ext cx="5760720" cy="502920"/>
          </a:xfrm>
          <a:prstGeom prst="rect">
            <a:avLst/>
          </a:prstGeom>
          <a:solidFill>
            <a:srgbClr val="F4F7FB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1463040"/>
            <a:ext cx="1143000" cy="228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172200" y="146304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52360" y="13258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sync green • Operators at version • ACM compliant • Storage validated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901952"/>
            <a:ext cx="5760720" cy="502920"/>
          </a:xfrm>
          <a:prstGeom prst="rect">
            <a:avLst/>
          </a:prstGeom>
          <a:solidFill>
            <a:srgbClr val="F4F7FB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2039112"/>
            <a:ext cx="1143000" cy="228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203911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TestOps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52360" y="190195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11-category readiness suite passed with evidence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2478024"/>
            <a:ext cx="5760720" cy="502920"/>
          </a:xfrm>
          <a:prstGeom prst="rect">
            <a:avLst/>
          </a:prstGeom>
          <a:solidFill>
            <a:srgbClr val="F4F7FB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2615184"/>
            <a:ext cx="1143000" cy="228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261518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/ OAT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52360" y="247802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Backup/restore verified • Monitoring flowing • On-call assigned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35040" y="3054096"/>
            <a:ext cx="5760720" cy="502920"/>
          </a:xfrm>
          <a:prstGeom prst="rect">
            <a:avLst/>
          </a:prstGeom>
          <a:solidFill>
            <a:srgbClr val="F4F7FB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3191256"/>
            <a:ext cx="1143000" cy="228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319125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MIOX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52360" y="305409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workload migrated and rolled back successfully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35040" y="3630168"/>
            <a:ext cx="5760720" cy="502920"/>
          </a:xfrm>
          <a:prstGeom prst="rect">
            <a:avLst/>
          </a:prstGeom>
          <a:solidFill>
            <a:srgbClr val="F4F7FB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3767328"/>
            <a:ext cx="1143000" cy="228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376732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52360" y="36301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Day-2 automation validated against the target cluster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35040" y="4251960"/>
            <a:ext cx="5760720" cy="4572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9" name="Text 27"/>
          <p:cNvSpPr/>
          <p:nvPr/>
        </p:nvSpPr>
        <p:spPr>
          <a:xfrm>
            <a:off x="6035040" y="42519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GREEN  →  PROMOTE    |    ANY RED  →  HOLD  (no overrides without change record)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846320"/>
            <a:ext cx="11247120" cy="0"/>
          </a:xfrm>
          <a:prstGeom prst="line">
            <a:avLst/>
          </a:prstGeom>
          <a:noFill/>
          <a:ln w="9525">
            <a:solidFill>
              <a:srgbClr val="D6E0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892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vSphere → OpenShift  |  Production Reliability Framework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418320" y="4892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02  |  DETECT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Observability &amp; Single Pane of Glass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 SLIs per cluster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029200" cy="36576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 latency (p99)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0" y="1783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1.0s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148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etcd health &amp; leader flips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0" y="2148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5m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5029200" cy="36576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514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readiness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0" y="25146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880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 bind time (p95)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0" y="28803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15s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5029200" cy="36576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246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boot success rate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0" y="32461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99.5%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611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completion rate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0" y="3611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99.0%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5029200" cy="36576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977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rollback rate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0" y="3977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1.0%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0" y="13258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SLO attainment by signal (illustrative)</a:t>
            </a:r>
            <a:endParaRPr lang="en-US" sz="12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5943600" y="1691640"/>
          <a:ext cx="59436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457200" y="4846320"/>
            <a:ext cx="11247120" cy="0"/>
          </a:xfrm>
          <a:prstGeom prst="line">
            <a:avLst/>
          </a:prstGeom>
          <a:noFill/>
          <a:ln w="9525">
            <a:solidFill>
              <a:srgbClr val="D6E0E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4892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vSphere → OpenShift  |  Production Reliability Framework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9418320" y="4892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03  |  CONTROL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Progressive Delivery &amp; Migration Waves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migrate in one big bang — expand only after canaries soak cleanly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956816" cy="1371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02996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Canary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1956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non-critical VMs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432304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779776" y="1920240"/>
            <a:ext cx="1956816" cy="1371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2779776" y="202996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Wave 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79776" y="2423160"/>
            <a:ext cx="1956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Low-tier workloads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79776" y="274320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2–3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79776" y="297180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0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102352" y="1920240"/>
            <a:ext cx="1956816" cy="1371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5102352" y="202996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Wave 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102352" y="2423160"/>
            <a:ext cx="1956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Mid-tier workloads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02352" y="274320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4–6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02352" y="297180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077456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424928" y="1920240"/>
            <a:ext cx="1956816" cy="1371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7424928" y="202996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Wave 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424928" y="2423160"/>
            <a:ext cx="1956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 workloads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424928" y="274320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7–10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24928" y="297180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400032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9747504" y="1920240"/>
            <a:ext cx="1956816" cy="13716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0" name="Text 28"/>
          <p:cNvSpPr/>
          <p:nvPr/>
        </p:nvSpPr>
        <p:spPr>
          <a:xfrm>
            <a:off x="9747504" y="202996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Steady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747504" y="2423160"/>
            <a:ext cx="1956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 vSphere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747504" y="274320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soak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747504" y="297180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657600"/>
            <a:ext cx="3630168" cy="1051560"/>
          </a:xfrm>
          <a:prstGeom prst="rect">
            <a:avLst/>
          </a:prstGeom>
          <a:solidFill>
            <a:srgbClr val="F4F7FB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" y="384048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931920"/>
            <a:ext cx="274320" cy="27432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234440" y="3822192"/>
            <a:ext cx="2715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ArgoCD sync waves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658368" y="4206240"/>
            <a:ext cx="3264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land in canary first, promoted via ApplicationSets after soak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4224528" y="3657600"/>
            <a:ext cx="3630168" cy="1051560"/>
          </a:xfrm>
          <a:prstGeom prst="rect">
            <a:avLst/>
          </a:prstGeom>
          <a:solidFill>
            <a:srgbClr val="F4F7FB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407408" y="384048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3931920"/>
            <a:ext cx="274320" cy="27432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5001768" y="3822192"/>
            <a:ext cx="2715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 freeze windows</a:t>
            </a:r>
            <a:endParaRPr lang="en-US" sz="1200" dirty="0"/>
          </a:p>
        </p:txBody>
      </p:sp>
      <p:sp>
        <p:nvSpPr>
          <p:cNvPr id="43" name="Text 39"/>
          <p:cNvSpPr/>
          <p:nvPr/>
        </p:nvSpPr>
        <p:spPr>
          <a:xfrm>
            <a:off x="4425696" y="4206240"/>
            <a:ext cx="3264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 disabled during business-critical periods — not human discipline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7991856" y="3657600"/>
            <a:ext cx="3630168" cy="1051560"/>
          </a:xfrm>
          <a:prstGeom prst="rect">
            <a:avLst/>
          </a:prstGeom>
          <a:solidFill>
            <a:srgbClr val="F4F7FB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8174736" y="384048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4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76" y="3931920"/>
            <a:ext cx="274320" cy="274320"/>
          </a:xfrm>
          <a:prstGeom prst="rect">
            <a:avLst/>
          </a:prstGeom>
        </p:spPr>
      </p:pic>
      <p:sp>
        <p:nvSpPr>
          <p:cNvPr id="47" name="Text 42"/>
          <p:cNvSpPr/>
          <p:nvPr/>
        </p:nvSpPr>
        <p:spPr>
          <a:xfrm>
            <a:off x="8769096" y="3822192"/>
            <a:ext cx="2715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Failure-rate circuit breaker</a:t>
            </a:r>
            <a:endParaRPr lang="en-US" sz="1200" dirty="0"/>
          </a:p>
        </p:txBody>
      </p:sp>
      <p:sp>
        <p:nvSpPr>
          <p:cNvPr id="48" name="Text 43"/>
          <p:cNvSpPr/>
          <p:nvPr/>
        </p:nvSpPr>
        <p:spPr>
          <a:xfrm>
            <a:off x="8193024" y="4206240"/>
            <a:ext cx="3264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halts automatically if migration failures breach 5% threshold</a:t>
            </a:r>
            <a:endParaRPr lang="en-US" sz="1000" dirty="0"/>
          </a:p>
        </p:txBody>
      </p:sp>
      <p:sp>
        <p:nvSpPr>
          <p:cNvPr id="49" name="Shape 44"/>
          <p:cNvSpPr/>
          <p:nvPr/>
        </p:nvSpPr>
        <p:spPr>
          <a:xfrm>
            <a:off x="457200" y="4846320"/>
            <a:ext cx="11247120" cy="0"/>
          </a:xfrm>
          <a:prstGeom prst="line">
            <a:avLst/>
          </a:prstGeom>
          <a:noFill/>
          <a:ln w="9525">
            <a:solidFill>
              <a:srgbClr val="D6E0EA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457200" y="4892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vSphere → OpenShift  |  Production Reliability Framework</a:t>
            </a:r>
            <a:endParaRPr lang="en-US" sz="900" dirty="0"/>
          </a:p>
        </p:txBody>
      </p:sp>
      <p:sp>
        <p:nvSpPr>
          <p:cNvPr id="51" name="Text 46"/>
          <p:cNvSpPr/>
          <p:nvPr/>
        </p:nvSpPr>
        <p:spPr>
          <a:xfrm>
            <a:off x="9418320" y="4892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04  |  RESPOND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Rollback &amp; Circuit Breakers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automation must know how to undo itself — tested, not assumed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57784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288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CONDITION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828800"/>
            <a:ext cx="5577840" cy="3657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0" y="18288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RESPONSE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11247120" cy="512064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240280"/>
            <a:ext cx="5440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Post-migration health checks fail within validation window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06440" y="2240280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63640" y="2240280"/>
            <a:ext cx="5440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reverse-migration to vSphere via Migration team playbooks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752344"/>
            <a:ext cx="5440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detects application health degradation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06440" y="2752344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63640" y="2752344"/>
            <a:ext cx="5440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to last-known-good Git SHA on the affected cluster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64408"/>
            <a:ext cx="11247120" cy="512064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264408"/>
            <a:ext cx="5440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failure rate exceeds 5% in a wave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06440" y="3264408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63640" y="3264408"/>
            <a:ext cx="5440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MIOX portal halts new migrations; wave paused for manual review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3776472"/>
            <a:ext cx="5440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path failure on PowerMax or Pure array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06440" y="3776472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63640" y="3776472"/>
            <a:ext cx="5440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failover + vendor engagement runbook triggered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288536"/>
            <a:ext cx="11247120" cy="512064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4288536"/>
            <a:ext cx="5440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policy violation on production cluster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06440" y="4288536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263640" y="4288536"/>
            <a:ext cx="5440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Auto-remediation where safe; escalation to SRE otherwise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846320"/>
            <a:ext cx="11247120" cy="0"/>
          </a:xfrm>
          <a:prstGeom prst="line">
            <a:avLst/>
          </a:prstGeom>
          <a:noFill/>
          <a:ln w="9525">
            <a:solidFill>
              <a:srgbClr val="D6E0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892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vSphere → OpenShift  |  Production Reliability Framework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418320" y="4892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05  |  GOVERN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RACI &amp; Incident Ownership Matrix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production breaks at 2 AM is the worst moment to debate ownership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4712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920240"/>
                <a:gridCol w="210312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 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(Accountable)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Secondary (Responsible)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health (control plane, etcd, nodes)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IaC, Platform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Leadership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 migration failure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MIOX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Build, SRE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owners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(PowerMax / Pure)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Vendor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Leadership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MIOX portal outage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MIOX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owners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Day-2 automation failure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Leadership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Cross-cutting / unclear triage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Teams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Leadership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434840"/>
            <a:ext cx="1124712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434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with: single incident channel per severity  •  standing war room during active migration waves  •  post-incident review within 5 business days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4846320"/>
            <a:ext cx="11247120" cy="0"/>
          </a:xfrm>
          <a:prstGeom prst="line">
            <a:avLst/>
          </a:prstGeom>
          <a:noFill/>
          <a:ln w="9525">
            <a:solidFill>
              <a:srgbClr val="D6E0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892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vSphere → OpenShift  |  Production Reliability Framework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418320" y="4892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06  |  HARDEN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Chaos Engineering &amp; DR Drills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 before production does — scheduled, measured, reviewed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drill catalog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359152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2402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a master node during an active migration wave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724912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060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a PowerMax array path mid-transaction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90672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97180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ArgoCD controller failure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456432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3375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 an ACM policy and measure detection time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822192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7033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cluster DR restore from backup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187952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0690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partition between Mumbai and Pune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17830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 recovery times — trend under chaos program (illustrative)</a:t>
            </a:r>
            <a:endParaRPr lang="en-US" sz="11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6126480" y="2148840"/>
          <a:ext cx="56692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457200" y="4846320"/>
            <a:ext cx="11247120" cy="0"/>
          </a:xfrm>
          <a:prstGeom prst="line">
            <a:avLst/>
          </a:prstGeom>
          <a:noFill/>
          <a:ln w="9525">
            <a:solidFill>
              <a:srgbClr val="D6E0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4892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vSphere → OpenShift  |  Production Reliability Framework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418320" y="4892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07 &amp; 08  |  SUSTAIN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Runbooks as Code and Soak Exit Criteria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57784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A"/>
            </a:solidFill>
            <a:prstDash val="solid"/>
          </a:ln>
          <a:effectLst>
            <a:outerShdw sx="100000" sy="100000" kx="0" ky="0" algn="bl" rotWithShape="0" blurRad="127000" dist="25400" dir="5400000">
              <a:srgbClr val="0B1437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557784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41732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667512" y="1444752"/>
            <a:ext cx="219456" cy="219456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444752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13258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 Runbooks as Code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85800" y="19659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alert →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directly to a versioned runbook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685800" y="25146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runbook →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Git, reviewed like code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685800" y="30632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runbook →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named owner and last-tested date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685800" y="36118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runbook →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during monthly chaos drills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685800" y="41605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alert →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runbook. No runbook without an owner.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126480" y="1325880"/>
            <a:ext cx="557784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A"/>
            </a:solidFill>
            <a:prstDash val="solid"/>
          </a:ln>
          <a:effectLst>
            <a:outerShdw sx="100000" sy="100000" kx="0" ky="0" algn="bl" rotWithShape="0" blurRad="127000" dist="25400" dir="5400000">
              <a:srgbClr val="0B1437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26480" y="1325880"/>
            <a:ext cx="5577840" cy="4572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7" name="Shape 13"/>
          <p:cNvSpPr/>
          <p:nvPr/>
        </p:nvSpPr>
        <p:spPr>
          <a:xfrm>
            <a:off x="6309360" y="141732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444752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75120" y="13258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  Soak Period &amp; Exit Criteria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355080" y="19202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migrated VM is not 'done' when it boots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355080" y="2404872"/>
            <a:ext cx="228600" cy="228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17"/>
          <p:cNvSpPr/>
          <p:nvPr/>
        </p:nvSpPr>
        <p:spPr>
          <a:xfrm>
            <a:off x="6355080" y="2404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6675120" y="23317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days of stable operation post-migration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355080" y="2843784"/>
            <a:ext cx="228600" cy="228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0"/>
          <p:cNvSpPr/>
          <p:nvPr/>
        </p:nvSpPr>
        <p:spPr>
          <a:xfrm>
            <a:off x="6355080" y="28437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6675120" y="27706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owner sign-off on record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355080" y="3282696"/>
            <a:ext cx="228600" cy="228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3"/>
          <p:cNvSpPr/>
          <p:nvPr/>
        </p:nvSpPr>
        <p:spPr>
          <a:xfrm>
            <a:off x="6355080" y="32826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6675120" y="3209544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alerting coverage confirmed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6355080" y="3721608"/>
            <a:ext cx="228600" cy="228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6"/>
          <p:cNvSpPr/>
          <p:nvPr/>
        </p:nvSpPr>
        <p:spPr>
          <a:xfrm>
            <a:off x="6355080" y="372160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6675120" y="364845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taken and restore-tested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6355080" y="4160520"/>
            <a:ext cx="228600" cy="2286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4" name="Text 29"/>
          <p:cNvSpPr/>
          <p:nvPr/>
        </p:nvSpPr>
        <p:spPr>
          <a:xfrm>
            <a:off x="6355080" y="41605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6675120" y="408736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then — vSphere source resource decommissioned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457200" y="4846320"/>
            <a:ext cx="11247120" cy="0"/>
          </a:xfrm>
          <a:prstGeom prst="line">
            <a:avLst/>
          </a:prstGeom>
          <a:noFill/>
          <a:ln w="9525">
            <a:solidFill>
              <a:srgbClr val="D6E0EA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457200" y="4892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vSphere → OpenShift  |  Production Reliability Framework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9418320" y="4892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Roadmap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Sequenced to build on assets that already exist — minimum new scaffolding, maximum leverage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743200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1762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Unify the Gate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2743200" cy="1965960"/>
          </a:xfrm>
          <a:prstGeom prst="rect">
            <a:avLst/>
          </a:prstGeom>
          <a:solidFill>
            <a:srgbClr val="F4F7FB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926080"/>
            <a:ext cx="2377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TestOps Production Readiness portal into unified gate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Build, SRE, Migration status feeds via API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explicit pass/fail contract per signal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10128" y="1828800"/>
            <a:ext cx="2743200" cy="960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493008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2–3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93008" y="21762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Consolidate Observability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310128" y="2788920"/>
            <a:ext cx="2743200" cy="1965960"/>
          </a:xfrm>
          <a:prstGeom prst="rect">
            <a:avLst/>
          </a:prstGeom>
          <a:solidFill>
            <a:srgbClr val="F4F7FB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93008" y="2926080"/>
            <a:ext cx="2377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 Prometheus across Mumbai + Pune clusters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migration-specific SLIs to multi-cluster dashboard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logs with consistent labels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63056" y="1828800"/>
            <a:ext cx="2743200" cy="9601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6345936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45936" y="21762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Formalize Ownership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63056" y="2788920"/>
            <a:ext cx="2743200" cy="1965960"/>
          </a:xfrm>
          <a:prstGeom prst="rect">
            <a:avLst/>
          </a:prstGeom>
          <a:solidFill>
            <a:srgbClr val="F4F7FB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45936" y="2926080"/>
            <a:ext cx="2377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RACI matrix and incident routing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every alert to a versioned runbook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incident channels &amp; war-room process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15984" y="1828800"/>
            <a:ext cx="2743200" cy="96012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21" name="Text 19"/>
          <p:cNvSpPr/>
          <p:nvPr/>
        </p:nvSpPr>
        <p:spPr>
          <a:xfrm>
            <a:off x="9198864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98864" y="21762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Continuous Hardening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015984" y="2788920"/>
            <a:ext cx="2743200" cy="1965960"/>
          </a:xfrm>
          <a:prstGeom prst="rect">
            <a:avLst/>
          </a:prstGeom>
          <a:solidFill>
            <a:srgbClr val="F4F7FB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98864" y="2926080"/>
            <a:ext cx="2377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chaos drills against production-like clusters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Migration-wave retrospectives with action tracking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SLO review and threshold recalibration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846320"/>
            <a:ext cx="11247120" cy="0"/>
          </a:xfrm>
          <a:prstGeom prst="line">
            <a:avLst/>
          </a:prstGeom>
          <a:noFill/>
          <a:ln w="9525">
            <a:solidFill>
              <a:srgbClr val="D6E0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892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vSphere → OpenShift  |  Production Reliability Framework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418320" y="4892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SUCCESS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Outcome Metrics &amp; Targets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743200" cy="17373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P1/P2 incidents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attributable to handoff gaps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371600"/>
            <a:ext cx="2743200" cy="1737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6002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≥99%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520440" y="2423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success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20440" y="2743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wave, without rollback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2743200" cy="17373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6002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&lt;30min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400800" y="2423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MTTR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743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automated paths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98280" y="1371600"/>
            <a:ext cx="2743200" cy="173736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17" name="Text 15"/>
          <p:cNvSpPr/>
          <p:nvPr/>
        </p:nvSpPr>
        <p:spPr>
          <a:xfrm>
            <a:off x="9189720" y="16002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9281160" y="2423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with runbook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81160" y="2743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alert without an owner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3375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Supporting metrics tracked monthly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5486400" cy="32004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749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failure rate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03320" y="3749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5% of production changes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3749040"/>
            <a:ext cx="5486400" cy="32004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3749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detect (MTTD)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464040" y="3749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 minutes, trending down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" y="4069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freshness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03320" y="4069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tested within 90 days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55080" y="4069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drill cadence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464040" y="4069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 drill per cluster per month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389120"/>
            <a:ext cx="5486400" cy="32004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4389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gate pass rate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703320" y="4389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95% at first attempt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4389120"/>
            <a:ext cx="5486400" cy="32004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5" name="Text 33"/>
          <p:cNvSpPr/>
          <p:nvPr/>
        </p:nvSpPr>
        <p:spPr>
          <a:xfrm>
            <a:off x="6355080" y="4389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Post-soak decommission lag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464040" y="4389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weeks after exit criteria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846320"/>
            <a:ext cx="11247120" cy="0"/>
          </a:xfrm>
          <a:prstGeom prst="line">
            <a:avLst/>
          </a:prstGeom>
          <a:noFill/>
          <a:ln w="9525">
            <a:solidFill>
              <a:srgbClr val="D6E0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892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vSphere → OpenShift  |  Production Reliability Framework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418320" y="4892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029200" cy="5029200"/>
          </a:xfrm>
          <a:prstGeom prst="ellipse">
            <a:avLst/>
          </a:prstGeom>
          <a:solidFill>
            <a:srgbClr val="065A82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114800" cy="411480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reliability is not a team —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a contract between teams.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31520" y="3429000"/>
            <a:ext cx="109728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5661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Explicit. Measurable. Gated. Visible to everyone.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4343400"/>
            <a:ext cx="3566160" cy="1371600"/>
          </a:xfrm>
          <a:prstGeom prst="rect">
            <a:avLst/>
          </a:prstGeom>
          <a:solidFill>
            <a:srgbClr val="21295C">
              <a:alpha val="70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45262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61772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08760" y="45079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Next: API contract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60120" y="502920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for the unified Production Readiness gate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480560" y="4343400"/>
            <a:ext cx="3566160" cy="1371600"/>
          </a:xfrm>
          <a:prstGeom prst="rect">
            <a:avLst/>
          </a:prstGeom>
          <a:solidFill>
            <a:srgbClr val="21295C">
              <a:alpha val="70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63440" y="45262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461772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57800" y="45079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Next: SLO definitions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709160" y="502920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Migration-specific SLIs, thresholds and burn rates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229600" y="4343400"/>
            <a:ext cx="3566160" cy="1371600"/>
          </a:xfrm>
          <a:prstGeom prst="rect">
            <a:avLst/>
          </a:prstGeom>
          <a:solidFill>
            <a:srgbClr val="21295C">
              <a:alpha val="70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412480" y="45262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461772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006840" y="45079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Next: RACI publication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8458200" y="502920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Ratify ownership model across all six domains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8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Platform Engineering  |  April 2026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8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Platform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Production Reliability Framework — vSphere to OpenShift Migration</dc:title>
  <dc:subject>PptxGenJS Presentation</dc:subject>
  <dc:creator>Infrastructure &amp; Platform Engineering</dc:creator>
  <cp:lastModifiedBy>Infrastructure &amp; Platform Engineering</cp:lastModifiedBy>
  <cp:revision>1</cp:revision>
  <dcterms:created xsi:type="dcterms:W3CDTF">2026-04-16T05:38:53Z</dcterms:created>
  <dcterms:modified xsi:type="dcterms:W3CDTF">2026-04-16T05:38:53Z</dcterms:modified>
</cp:coreProperties>
</file>